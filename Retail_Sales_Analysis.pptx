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B26D504-E7A4-40BF-A973-FDDC5796ECB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4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37A6-CB9C-7FE5-D4FA-89F0391AD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ABE4CD-BF04-3F7B-4310-657AA8C21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A99F9-FF62-A329-4E88-E822D85E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4E5B-C6A4-4CE5-93E4-2DA0FB5043FE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E454D-EF65-9527-0342-6B23C96BF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ADB2D-D55E-11CE-9E8D-D53E8B98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FFD3F-B46D-495F-B9F2-CF0C2CE84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2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53DF-24B8-6311-037E-221C8E8F4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4D7ED-F7A7-AB12-59AA-6441BEFBE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5C9D4-0569-57D6-6311-BBDEB93FB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4E5B-C6A4-4CE5-93E4-2DA0FB5043FE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CDA86-FE83-F885-2219-0D9BD7BB2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DF092-B3B8-ED8A-B4BC-1F7B9D0C7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FFD3F-B46D-495F-B9F2-CF0C2CE84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223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113C3-3676-A904-2DDC-89F517678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37F87-6ED9-1EB6-42DA-FC4F141E4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CA747-C148-2317-B323-21AF82262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4E5B-C6A4-4CE5-93E4-2DA0FB5043FE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55D77-0B20-0AB0-7BD3-2E93B9C8E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D7CD4-F3C2-7E1A-5390-02FB6F28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FFD3F-B46D-495F-B9F2-CF0C2CE84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39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18244-8C80-F482-5394-A4B6CF57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22E9E-3D97-F3C3-A5B1-82D6ADEF6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11FB4-E679-5525-7F3F-E4DB272C1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18713-EC4A-5497-DE92-73D7D44B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4E5B-C6A4-4CE5-93E4-2DA0FB5043FE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EB36D-3C85-5C9E-0C02-FE6F7D1F6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EA644-6A5D-6298-C0C5-CC2485DA0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FFD3F-B46D-495F-B9F2-CF0C2CE84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92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3A63-2299-EC04-A7C5-5C339F5A7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A7C0C-2039-273F-CC03-2BB7B2D3F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A1CB1-FC3C-2D83-AFDA-980624157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AF3390-6812-90EA-F271-D9F9D15467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E10588-68AF-2735-CA51-685B7DA0C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0FB241-99B0-1BD5-53D4-ED3E4227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4E5B-C6A4-4CE5-93E4-2DA0FB5043FE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E7C3C1-1148-F84B-6BCB-A5180066B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12B687-735C-C635-25B2-BBDE549D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FFD3F-B46D-495F-B9F2-CF0C2CE84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1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00E1F-5A51-D7C6-3F49-F65513C0E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DB112-2041-F9EE-1786-65F99CCE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4E5B-C6A4-4CE5-93E4-2DA0FB5043FE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126040-162B-A5C7-318C-9BED13374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2748F-EFF8-9DA8-4713-F18C41C11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FFD3F-B46D-495F-B9F2-CF0C2CE84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5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72C5C5-59BB-F4E7-F5FF-0F78D574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4E5B-C6A4-4CE5-93E4-2DA0FB5043FE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8E56DA-6CA1-1EEA-C3BF-2168344D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F81B7-B6EE-56A0-650A-B929E77D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FFD3F-B46D-495F-B9F2-CF0C2CE84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70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038E-9F0C-CDBB-185E-B5E7BDD1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8C585-AA76-FD41-980B-ECE8C670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47D60-F582-0A0D-7352-4816D2E41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BD8A6-322B-771A-E09D-87014CA9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4E5B-C6A4-4CE5-93E4-2DA0FB5043FE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82612-C12E-ACCD-0ACA-FF18F1B47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FAD41-EA06-4BAF-4707-27630E361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FFD3F-B46D-495F-B9F2-CF0C2CE84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49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D102-EB92-E94F-B7BD-5A3A833A7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A90BD1-94F8-E93D-2BF0-99D862EFA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E6D58-9FEE-0F03-4AD0-FC94808F1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2DA70-4B27-4D72-F33B-90BEFA1DC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4E5B-C6A4-4CE5-93E4-2DA0FB5043FE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11722-0726-403C-7FE1-3A5AECE0F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E9F14-4ECA-899B-83C2-9E996AC8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FFD3F-B46D-495F-B9F2-CF0C2CE84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139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94600-D424-FD54-353F-7D93F9749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821F44-1468-24D4-E902-6845C45AC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A72E0-2CF7-08F9-646A-36CBA1DDD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4E5B-C6A4-4CE5-93E4-2DA0FB5043FE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00961-3976-0244-5AE7-CC2C7C9F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9381E-0125-F10D-BD8C-E2566BBA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FFD3F-B46D-495F-B9F2-CF0C2CE84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37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BDB85-59A7-038A-9531-D88EB714BE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FED9C-CC86-6099-CBEF-732433E8C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C3DC6-3077-4ED8-45DB-80E364157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4E5B-C6A4-4CE5-93E4-2DA0FB5043FE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8D207-D98D-279C-880D-6D3A737E2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DBC18-1E8E-B3D2-1E70-3D7FD108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FFD3F-B46D-495F-B9F2-CF0C2CE84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7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01395F-C6FA-6008-8B24-686C12DDE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4F965-3A79-8114-650A-1303775B3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72C22-E799-A5D8-6C2B-9E3737B43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14E5B-C6A4-4CE5-93E4-2DA0FB5043FE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60789-48C8-EF83-27A6-D23AAB76E9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3B31D-3540-61B0-7462-BF14B8FCF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FFD3F-B46D-495F-B9F2-CF0C2CE84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8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9F39-B953-3B5D-E931-8FE264D28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4098"/>
            <a:ext cx="9144000" cy="2387600"/>
          </a:xfrm>
        </p:spPr>
        <p:txBody>
          <a:bodyPr/>
          <a:lstStyle/>
          <a:p>
            <a:r>
              <a:rPr lang="en-US" b="1" u="sng" dirty="0"/>
              <a:t>Retail Sales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496EF-5B81-26CE-9C40-E5D9BC146C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Exploratory Data Analysis using Python</a:t>
            </a:r>
          </a:p>
          <a:p>
            <a:endParaRPr lang="en-US" dirty="0"/>
          </a:p>
          <a:p>
            <a:r>
              <a:rPr lang="en-US" b="1" dirty="0"/>
              <a:t>Tools:</a:t>
            </a:r>
            <a:r>
              <a:rPr lang="en-US" dirty="0"/>
              <a:t> Python | Pandas | Matplotlib | Data Cleaning | EDA</a:t>
            </a:r>
          </a:p>
        </p:txBody>
      </p:sp>
    </p:spTree>
    <p:extLst>
      <p:ext uri="{BB962C8B-B14F-4D97-AF65-F5344CB8AC3E}">
        <p14:creationId xmlns:p14="http://schemas.microsoft.com/office/powerpoint/2010/main" val="219633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BD934379-2BF1-D515-7DC3-CDDD4DC1FB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062"/>
            <a:ext cx="10863871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retail sales data to understand revenue trends, product performance, sales channels,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geographic performance, and customer acquisition.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/>
              <a:t>Key Questions: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How is revenue changing over time?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Which product categories generate the most revenue?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Which sales channels contribute the most?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Which cities are the strongest performers?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Which customer acquisition channels generate the most revenue?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Does discounting appear to influence revenue?</a:t>
            </a:r>
            <a:endParaRPr lang="en-US" sz="3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090E89-9E8F-2918-0510-6D0E15C5FA3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1842676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55399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610337-E174-DC07-6FBE-5383F4296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467328"/>
              </p:ext>
            </p:extLst>
          </p:nvPr>
        </p:nvGraphicFramePr>
        <p:xfrm>
          <a:off x="838200" y="745044"/>
          <a:ext cx="10515600" cy="5791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6121710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3200" b="1" u="sng" dirty="0"/>
                        <a:t>Project Objective &amp; Business Questions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626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3347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0C2BF4-0A1D-3152-484D-102537219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519" y="509553"/>
            <a:ext cx="9410700" cy="4025900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2AC66865-E5E4-9DDA-853B-136A99D8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5436517"/>
            <a:ext cx="1031367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Implication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business appears to be experiencing positive sales momentum and should investigate the factors driving the recent growth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6E9EA55-2017-155F-92D4-49A40DCC7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4456535"/>
            <a:ext cx="989711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shows an overall upward trend, with stronger growth toward the later months of the analysis period.</a:t>
            </a: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B652D-FB46-8AEB-BDC9-C31CA6B95B5F}"/>
              </a:ext>
            </a:extLst>
          </p:cNvPr>
          <p:cNvSpPr txBox="1"/>
          <p:nvPr/>
        </p:nvSpPr>
        <p:spPr>
          <a:xfrm>
            <a:off x="960119" y="65250"/>
            <a:ext cx="8540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/>
              <a:t>Revenue Shows Positive Growth Over Time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126662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2C6E54-C80A-476E-528F-AAFFB1CE9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0" y="1193747"/>
            <a:ext cx="5496560" cy="485648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85D531B-B480-7429-C09D-F116FA69B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979" y="1800139"/>
            <a:ext cx="599439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Equipment is the highest revenue-generating category.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clear gap between Equipment and the lower-performing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Implication: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Investigate what drives Equipment's strong performance while identifying opportunities to improve weaker categories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C763D-4AB0-ED53-AFE9-68366B98028F}"/>
              </a:ext>
            </a:extLst>
          </p:cNvPr>
          <p:cNvSpPr txBox="1"/>
          <p:nvPr/>
        </p:nvSpPr>
        <p:spPr>
          <a:xfrm>
            <a:off x="497840" y="147406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/>
              <a:t>Equipment Leads Revenue Generation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64597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0BC147-2AB1-FA91-ACE0-2641849B89CC}"/>
              </a:ext>
            </a:extLst>
          </p:cNvPr>
          <p:cNvSpPr txBox="1"/>
          <p:nvPr/>
        </p:nvSpPr>
        <p:spPr>
          <a:xfrm>
            <a:off x="667652" y="155008"/>
            <a:ext cx="60976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/>
              <a:t>Digital Channels Drive 74% of Revenue</a:t>
            </a:r>
            <a:endParaRPr lang="en-US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FE04B2-8D94-F6C0-E04F-2D8755DFC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52" y="1008396"/>
            <a:ext cx="5819775" cy="551497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B132927-6A05-6539-62F3-53C774EDF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7427" y="2169274"/>
            <a:ext cx="52067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Website + Mobile App = 74% of total revenue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CAC0F66-B049-3D2D-5FE9-C72D6B82A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7427" y="3362848"/>
            <a:ext cx="60960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Implication: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Continue optimizing digital customer journeys and investigate opportunities to increase performance in lower-contributing channels.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509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60D139-7DFF-3551-E2B3-4C5913422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46" y="833437"/>
            <a:ext cx="8060407" cy="5191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93D1BD-7EB2-3571-A178-F89548B907C0}"/>
              </a:ext>
            </a:extLst>
          </p:cNvPr>
          <p:cNvSpPr txBox="1"/>
          <p:nvPr/>
        </p:nvSpPr>
        <p:spPr>
          <a:xfrm>
            <a:off x="642487" y="282159"/>
            <a:ext cx="73657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/>
              <a:t>Chennai Leads Revenue Among Analyzed Cities</a:t>
            </a:r>
            <a:endParaRPr lang="en-US" b="1" u="sng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B844DD1-6B0E-1188-80A6-A262AD0B4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8358" y="1474531"/>
            <a:ext cx="3339966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Chennai generates the highest revenue among the analyzed cities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741F4E4-F4EC-B0C3-AF02-A608A3E89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8358" y="2907917"/>
            <a:ext cx="3408196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Implication: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High-performing cities could be prioritized for expansion, while lower-performing cities can be investigated for growth opportunities.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50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DBAF23-42A7-4431-D92B-641394C04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0769"/>
            <a:ext cx="7315200" cy="5724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2259FB-1344-A0FC-4361-113A06756450}"/>
              </a:ext>
            </a:extLst>
          </p:cNvPr>
          <p:cNvSpPr txBox="1"/>
          <p:nvPr/>
        </p:nvSpPr>
        <p:spPr>
          <a:xfrm>
            <a:off x="515754" y="131815"/>
            <a:ext cx="91480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Website Acquisition Generates the Highest Revenue</a:t>
            </a:r>
            <a:endParaRPr lang="en-US" b="1" u="sng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AB29E01-14D8-CF15-014D-FD0A95CC7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2996" y="1395772"/>
            <a:ext cx="409073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Website-acquired customers generate the highest total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acquisition is the second-largest contributor.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01E91B5-DBFF-8A75-0736-60DBFE071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2996" y="3043704"/>
            <a:ext cx="341696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Implication: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company should investigate which acquisition campaigns and customer behaviors are driving the strong performance of digital acquisition channels.</a:t>
            </a:r>
          </a:p>
        </p:txBody>
      </p:sp>
    </p:spTree>
    <p:extLst>
      <p:ext uri="{BB962C8B-B14F-4D97-AF65-F5344CB8AC3E}">
        <p14:creationId xmlns:p14="http://schemas.microsoft.com/office/powerpoint/2010/main" val="4083412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178FE7-BEFB-FA54-F35B-11C01973B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08" y="833437"/>
            <a:ext cx="6705600" cy="5191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BF7483-D11A-41E2-7E82-EF6C40F8E116}"/>
              </a:ext>
            </a:extLst>
          </p:cNvPr>
          <p:cNvSpPr txBox="1"/>
          <p:nvPr/>
        </p:nvSpPr>
        <p:spPr>
          <a:xfrm>
            <a:off x="430730" y="214782"/>
            <a:ext cx="9098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/>
              <a:t>Discounting Does Not Show a Clear Revenue Relationship</a:t>
            </a:r>
            <a:endParaRPr lang="en-US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CD6660-C93D-E33C-F462-E88DC24FEC9F}"/>
              </a:ext>
            </a:extLst>
          </p:cNvPr>
          <p:cNvSpPr txBox="1"/>
          <p:nvPr/>
        </p:nvSpPr>
        <p:spPr>
          <a:xfrm>
            <a:off x="7101038" y="1348951"/>
            <a:ext cx="49497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Key Insight: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Revenue values are distributed across all discount levels.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No clear upward or downward trend is visible between discount % and revenue.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E9FFBA7-BB93-3325-38B0-D4CDC5286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1300" y="2963821"/>
            <a:ext cx="465541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Implication: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Discounting alone may not be a strong driver of revenue.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company should evaluate discounts alongside factors such as product, quantity, customer, and sales channel before changing discount strategy.</a:t>
            </a:r>
          </a:p>
        </p:txBody>
      </p:sp>
    </p:spTree>
    <p:extLst>
      <p:ext uri="{BB962C8B-B14F-4D97-AF65-F5344CB8AC3E}">
        <p14:creationId xmlns:p14="http://schemas.microsoft.com/office/powerpoint/2010/main" val="3029211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B08D2A8-FFDB-8D4B-C061-7DEAD4D67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047" y="782465"/>
            <a:ext cx="9728733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01 — Revenue is growing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sales show positive momentum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02 — Equipment is the strongest category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generates significantly more revenue than the other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03 — Digital channels dominate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Website and Mobile App account for the majority of channel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04 — Revenue is geographically concentrated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few cities contribute strongly to overall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05 — Website acquisition performs strongly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Website-acquired customers generate the highest total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Invest in high-performing digital channels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Understand the drivers behind Equipment's performance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Develop city-specific strategies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Investigate lower-performing categories and channels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Perform deeper customer-level analysis in future work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F03A5E-6302-643D-8C26-FBEA9A1E643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061535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733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0465E6-DB1C-3D97-CC0C-247D4D8F6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417966"/>
              </p:ext>
            </p:extLst>
          </p:nvPr>
        </p:nvGraphicFramePr>
        <p:xfrm>
          <a:off x="454795" y="156484"/>
          <a:ext cx="8353927" cy="518160"/>
        </p:xfrm>
        <a:graphic>
          <a:graphicData uri="http://schemas.openxmlformats.org/drawingml/2006/table">
            <a:tbl>
              <a:tblPr/>
              <a:tblGrid>
                <a:gridCol w="8353927">
                  <a:extLst>
                    <a:ext uri="{9D8B030D-6E8A-4147-A177-3AD203B41FA5}">
                      <a16:colId xmlns:a16="http://schemas.microsoft.com/office/drawing/2014/main" val="29060217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b="1" u="sng" dirty="0"/>
                        <a:t>Key Findings &amp; Business Recommendations</a:t>
                      </a:r>
                      <a:endParaRPr lang="en-US" b="1" u="sn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824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5290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512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Retail Sales Performance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&amp; Sales Performance</dc:title>
  <dc:creator>Nikhil Tajane</dc:creator>
  <cp:lastModifiedBy>Nikhil Tajane</cp:lastModifiedBy>
  <cp:revision>3</cp:revision>
  <dcterms:created xsi:type="dcterms:W3CDTF">2026-09-05T06:41:18Z</dcterms:created>
  <dcterms:modified xsi:type="dcterms:W3CDTF">2026-09-05T07:08:06Z</dcterms:modified>
</cp:coreProperties>
</file>